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6" r:id="rId4"/>
    <p:sldId id="259" r:id="rId5"/>
    <p:sldId id="258" r:id="rId6"/>
    <p:sldId id="267" r:id="rId7"/>
    <p:sldId id="261" r:id="rId8"/>
    <p:sldId id="268" r:id="rId9"/>
    <p:sldId id="263" r:id="rId10"/>
    <p:sldId id="269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5033" autoAdjust="0"/>
  </p:normalViewPr>
  <p:slideViewPr>
    <p:cSldViewPr snapToGrid="0" showGuides="1">
      <p:cViewPr varScale="1">
        <p:scale>
          <a:sx n="78" d="100"/>
          <a:sy n="78" d="100"/>
        </p:scale>
        <p:origin x="1579" y="43"/>
      </p:cViewPr>
      <p:guideLst>
        <p:guide orient="horz" pos="2160"/>
        <p:guide pos="2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1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AMGOI VATHAR - ICIRSD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400" b="1" i="0" u="none" kern="1200">
          <a:solidFill>
            <a:srgbClr val="000000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400" b="0" i="0" u="none" kern="1200">
          <a:solidFill>
            <a:srgbClr val="000000"/>
          </a:solidFill>
          <a:latin typeface="Times New Roman" panose="0202060305040502030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3" name="Text Box 2"/>
          <p:cNvSpPr txBox="1"/>
          <p:nvPr/>
        </p:nvSpPr>
        <p:spPr>
          <a:xfrm>
            <a:off x="635" y="0"/>
            <a:ext cx="9142730" cy="7339584"/>
          </a:xfrm>
          <a:prstGeom prst="rect">
            <a:avLst/>
          </a:prstGeom>
          <a:noFill/>
          <a:ln w="41275" cmpd="sng">
            <a:noFill/>
            <a:prstDash val="solid"/>
          </a:ln>
        </p:spPr>
        <p:txBody>
          <a:bodyPr>
            <a:noAutofit/>
          </a:bodyPr>
          <a:lstStyle/>
          <a:p>
            <a:pPr algn="ctr"/>
            <a:endParaRPr lang="en-IN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  <a:p>
            <a:pPr algn="ctr"/>
            <a:r>
              <a:rPr lang="en-IN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on</a:t>
            </a:r>
          </a:p>
          <a:p>
            <a:pPr algn="ctr"/>
            <a:endParaRPr lang="en-IN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Yoga Mat  Using IOT For Real-Time Posture Monitoring;</a:t>
            </a:r>
            <a:r>
              <a:rPr lang="en-IN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algn="ctr"/>
            <a:r>
              <a:rPr lang="en-IN" sz="16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by</a:t>
            </a:r>
          </a:p>
          <a:p>
            <a:pPr marL="457200" lvl="1" indent="457200" algn="l"/>
            <a:endParaRPr lang="en-IN" altLang="en-US" sz="1600" b="1" dirty="0">
              <a:solidFill>
                <a:srgbClr val="7030A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Paper ID:-</a:t>
            </a:r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CSE05</a:t>
            </a:r>
            <a:endParaRPr lang="en-IN" altLang="en-US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Name:-</a:t>
            </a:r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Priti </a:t>
            </a:r>
            <a:r>
              <a:rPr lang="en-IN" altLang="en-US" sz="16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Hanmant</a:t>
            </a:r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Deshmukh</a:t>
            </a: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Pranjali Bajirao </a:t>
            </a:r>
            <a:r>
              <a:rPr lang="en-IN" altLang="en-US" sz="16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Panwal</a:t>
            </a:r>
            <a:endParaRPr lang="en-IN" altLang="en-US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Shreya Rajendra Patil</a:t>
            </a: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Pranil Gorakh Patil</a:t>
            </a:r>
          </a:p>
          <a:p>
            <a:pPr marL="457200" lvl="1" indent="457200" algn="l"/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</a:t>
            </a:r>
            <a:endParaRPr lang="en-IN" altLang="en-US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457200"/>
            <a:r>
              <a:rPr lang="en-IN" altLang="en-US" sz="1600" b="1" dirty="0">
                <a:solidFill>
                  <a:srgbClr val="7030A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Affiliation:-</a:t>
            </a:r>
            <a:r>
              <a:rPr lang="en-IN" alt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AGTI’s DACOE , KARAD</a:t>
            </a:r>
            <a:endParaRPr lang="en-IN" altLang="en-US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</a:p>
          <a:p>
            <a:pPr algn="ctr"/>
            <a:r>
              <a:rPr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CONFERENCE </a:t>
            </a:r>
          </a:p>
          <a:p>
            <a:pPr algn="ctr"/>
            <a:r>
              <a:rPr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EMERGING TECHNOLOGIES, INNOVATION AND SUSTAINABLE DEVELOPMENT(ICETIS-2026)</a:t>
            </a:r>
            <a:r>
              <a:rPr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7030A0"/>
                </a:solidFill>
              </a:rPr>
              <a:t>23</a:t>
            </a:r>
            <a:r>
              <a:rPr lang="en-US" sz="1600" b="1" baseline="30000" dirty="0">
                <a:solidFill>
                  <a:srgbClr val="7030A0"/>
                </a:solidFill>
              </a:rPr>
              <a:t>rd</a:t>
            </a:r>
            <a:r>
              <a:rPr lang="en-US" sz="1600" b="1" dirty="0">
                <a:solidFill>
                  <a:srgbClr val="7030A0"/>
                </a:solidFill>
              </a:rPr>
              <a:t> March – 24</a:t>
            </a:r>
            <a:r>
              <a:rPr lang="en-US" sz="1600" b="1" baseline="30000" dirty="0">
                <a:solidFill>
                  <a:srgbClr val="7030A0"/>
                </a:solidFill>
              </a:rPr>
              <a:t>th</a:t>
            </a:r>
            <a:r>
              <a:rPr lang="en-US" sz="1600" b="1" dirty="0">
                <a:solidFill>
                  <a:srgbClr val="7030A0"/>
                </a:solidFill>
              </a:rPr>
              <a:t> March 2026</a:t>
            </a:r>
            <a:r>
              <a:rPr lang="en-IN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Organized by</a:t>
            </a:r>
            <a:endParaRPr lang="en-US"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Dr. Ashok Gujar Technical Institute’s</a:t>
            </a:r>
            <a:endParaRPr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Tx/>
              <a:buSzTx/>
              <a:buFontTx/>
            </a:pPr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Daulatroa  Aher College Of Engineering , Karad</a:t>
            </a:r>
            <a:endParaRPr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Tx/>
              <a:buSzTx/>
              <a:buFontTx/>
            </a:pPr>
            <a:r>
              <a:rPr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Jointly with</a:t>
            </a:r>
            <a:endParaRPr lang="en-US"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Tx/>
              <a:buSzTx/>
              <a:buFontTx/>
            </a:pPr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CTIF Global Capsule (CGC), Denmark</a:t>
            </a:r>
          </a:p>
          <a:p>
            <a:pPr algn="ctr">
              <a:buClrTx/>
              <a:buSzTx/>
              <a:buFontTx/>
            </a:pPr>
            <a:endParaRPr sz="1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5240" y="1997185"/>
            <a:ext cx="9128760" cy="0"/>
          </a:xfrm>
          <a:prstGeom prst="line">
            <a:avLst/>
          </a:prstGeom>
          <a:ln w="31750" cmpd="sng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5240" y="3894535"/>
            <a:ext cx="9128760" cy="0"/>
          </a:xfrm>
          <a:prstGeom prst="line">
            <a:avLst/>
          </a:prstGeom>
          <a:ln w="31750" cmpd="sng">
            <a:solidFill>
              <a:srgbClr val="7030A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036" y="228213"/>
            <a:ext cx="11430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90566" y="247015"/>
            <a:ext cx="7310755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 fontScale="90000"/>
          </a:bodyPr>
          <a:lstStyle/>
          <a:p>
            <a:r>
              <a:rPr lang="en-IN" altLang="en-US" sz="2400" dirty="0">
                <a:solidFill>
                  <a:schemeClr val="tx1"/>
                </a:solidFill>
              </a:rPr>
              <a:t>         CONTENT OF THE PRESENTATION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2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7820" y="1366520"/>
            <a:ext cx="8619490" cy="4805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altLang="en-US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Introduction to Topic</a:t>
            </a:r>
          </a:p>
          <a:p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Review of </a:t>
            </a:r>
            <a:r>
              <a:rPr lang="en-IN" altLang="en-US" dirty="0">
                <a:sym typeface="+mn-ea"/>
              </a:rPr>
              <a:t>Literature</a:t>
            </a:r>
          </a:p>
          <a:p>
            <a:r>
              <a:rPr lang="en-IN" altLang="en-US" dirty="0">
                <a:sym typeface="+mn-ea"/>
              </a:rPr>
              <a:t> </a:t>
            </a:r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Gap Analysis &amp; Problem Statement</a:t>
            </a:r>
          </a:p>
          <a:p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Objectives &amp; Methodology</a:t>
            </a:r>
          </a:p>
          <a:p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Results &amp; Discussions</a:t>
            </a:r>
          </a:p>
          <a:p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Conclusions &amp; Future Scope</a:t>
            </a:r>
          </a:p>
          <a:p>
            <a:endParaRPr lang="en-I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dirty="0"/>
              <a:t>References</a:t>
            </a:r>
          </a:p>
          <a:p>
            <a:endParaRPr lang="en-IN" altLang="en-US" dirty="0">
              <a:solidFill>
                <a:srgbClr val="7030A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8582" y="139004"/>
            <a:ext cx="11430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3FF1-9893-6E30-3262-B252D80F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C3D8B2-275D-A1D9-0F7F-10A200E794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3429000"/>
            <a:ext cx="9143365" cy="3428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17578-1432-C3AC-FF43-7380A9D0C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" y="247015"/>
            <a:ext cx="7310755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400" dirty="0">
                <a:solidFill>
                  <a:schemeClr val="tx1"/>
                </a:solidFill>
              </a:rPr>
              <a:t>           INTRODUCTION TO TOPIC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3C4AD0-7D55-EF04-D605-718AE808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3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42627596-B500-55BB-22CA-AD8A22E629E8}"/>
              </a:ext>
            </a:extLst>
          </p:cNvPr>
          <p:cNvSpPr txBox="1"/>
          <p:nvPr/>
        </p:nvSpPr>
        <p:spPr>
          <a:xfrm>
            <a:off x="808730" y="1660764"/>
            <a:ext cx="7725747" cy="34283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Yoga is widely practiced for improving physical health and mental well-being.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Many people now prefer practicing yoga at home due to busy lifestyles.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Beginners often perform poses incorrectly without proper guidance.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Incorrect posture can reduce effectiveness and cause physical strain.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proposed Smart Yoga Mat using IoT helps users practice yoga correctly by monitoring posture and providing feedback.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94" y="139004"/>
            <a:ext cx="11430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DACOE, Karad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733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0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7070" y="269083"/>
            <a:ext cx="7310755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400" dirty="0">
                <a:solidFill>
                  <a:schemeClr val="tx1"/>
                </a:solidFill>
              </a:rPr>
              <a:t>REVIEW OF LITERATURE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4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965" y="178419"/>
            <a:ext cx="968722" cy="8872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3D636E-8C9D-07D8-0A9C-528CE3516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34910"/>
              </p:ext>
            </p:extLst>
          </p:nvPr>
        </p:nvGraphicFramePr>
        <p:xfrm>
          <a:off x="130629" y="964250"/>
          <a:ext cx="8854752" cy="5426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1477">
                  <a:extLst>
                    <a:ext uri="{9D8B030D-6E8A-4147-A177-3AD203B41FA5}">
                      <a16:colId xmlns:a16="http://schemas.microsoft.com/office/drawing/2014/main" val="3667765437"/>
                    </a:ext>
                  </a:extLst>
                </a:gridCol>
                <a:gridCol w="1244863">
                  <a:extLst>
                    <a:ext uri="{9D8B030D-6E8A-4147-A177-3AD203B41FA5}">
                      <a16:colId xmlns:a16="http://schemas.microsoft.com/office/drawing/2014/main" val="820502616"/>
                    </a:ext>
                  </a:extLst>
                </a:gridCol>
                <a:gridCol w="1333064">
                  <a:extLst>
                    <a:ext uri="{9D8B030D-6E8A-4147-A177-3AD203B41FA5}">
                      <a16:colId xmlns:a16="http://schemas.microsoft.com/office/drawing/2014/main" val="4294272868"/>
                    </a:ext>
                  </a:extLst>
                </a:gridCol>
                <a:gridCol w="1353630">
                  <a:extLst>
                    <a:ext uri="{9D8B030D-6E8A-4147-A177-3AD203B41FA5}">
                      <a16:colId xmlns:a16="http://schemas.microsoft.com/office/drawing/2014/main" val="786057063"/>
                    </a:ext>
                  </a:extLst>
                </a:gridCol>
                <a:gridCol w="1675860">
                  <a:extLst>
                    <a:ext uri="{9D8B030D-6E8A-4147-A177-3AD203B41FA5}">
                      <a16:colId xmlns:a16="http://schemas.microsoft.com/office/drawing/2014/main" val="1108120920"/>
                    </a:ext>
                  </a:extLst>
                </a:gridCol>
                <a:gridCol w="1495858">
                  <a:extLst>
                    <a:ext uri="{9D8B030D-6E8A-4147-A177-3AD203B41FA5}">
                      <a16:colId xmlns:a16="http://schemas.microsoft.com/office/drawing/2014/main" val="1491185162"/>
                    </a:ext>
                  </a:extLst>
                </a:gridCol>
              </a:tblGrid>
              <a:tr h="853700">
                <a:tc>
                  <a:txBody>
                    <a:bodyPr/>
                    <a:lstStyle/>
                    <a:p>
                      <a:r>
                        <a:rPr lang="en-IN" sz="1400" dirty="0"/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Performance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432094"/>
                  </a:ext>
                </a:extLst>
              </a:tr>
              <a:tr h="991210">
                <a:tc>
                  <a:txBody>
                    <a:bodyPr/>
                    <a:lstStyle/>
                    <a:p>
                      <a:r>
                        <a:rPr lang="en-IN" sz="1200" b="1" dirty="0"/>
                        <a:t>Long &amp; Jo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Development of Yoga Posture Coaching System Using Transfer Learning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Deep Learning, </a:t>
                      </a:r>
                      <a:r>
                        <a:rPr lang="en-US" sz="1200" dirty="0" err="1"/>
                        <a:t>MobileNet</a:t>
                      </a:r>
                      <a:r>
                        <a:rPr lang="en-US" sz="1200" dirty="0"/>
                        <a:t>, Computer Vision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Accurate pose classification, automated yoga training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Requires high-quality image dataset and good lighting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Accuracy ≈ 91%, Precision ≈ 89%, Recall ≈ 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328126"/>
                  </a:ext>
                </a:extLst>
              </a:tr>
              <a:tr h="853700">
                <a:tc>
                  <a:txBody>
                    <a:bodyPr/>
                    <a:lstStyle/>
                    <a:p>
                      <a:r>
                        <a:rPr lang="en-IN" sz="1200" b="1" dirty="0"/>
                        <a:t>Sun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RFitness</a:t>
                      </a:r>
                      <a:r>
                        <a:rPr lang="en-US" sz="1200" dirty="0"/>
                        <a:t>: Smart Yoga Mat for Fitness Posture Detection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RFID Sensors,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Preserves user privacy, sensor-based posture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Cannot capture full body posture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 ≈ 85%, Response Time ≈ 150 </a:t>
                      </a:r>
                      <a:r>
                        <a:rPr lang="en-US" sz="1200" dirty="0" err="1"/>
                        <a:t>ms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70795"/>
                  </a:ext>
                </a:extLst>
              </a:tr>
              <a:tr h="991210">
                <a:tc>
                  <a:txBody>
                    <a:bodyPr/>
                    <a:lstStyle/>
                    <a:p>
                      <a:r>
                        <a:rPr lang="en-IN" sz="1200" b="1" dirty="0"/>
                        <a:t>Anusha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Embedded-Based Smart Yoga Mat for Yoga Activity Monitoring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Force Sensitive Resistors, Embedded System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Detects body pressure and balance effectively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Limited pose recognition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Accuracy ≈ 88%, Precision ≈ 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07573"/>
                  </a:ext>
                </a:extLst>
              </a:tr>
              <a:tr h="853700">
                <a:tc>
                  <a:txBody>
                    <a:bodyPr/>
                    <a:lstStyle/>
                    <a:p>
                      <a:r>
                        <a:rPr lang="en-IN" sz="1200" b="1" dirty="0"/>
                        <a:t>Gadhvi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PosePilot</a:t>
                      </a:r>
                      <a:r>
                        <a:rPr lang="en-IN" sz="1200" dirty="0"/>
                        <a:t>: Edge-AI Posture Correction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LSTM Neural Network, Edge AI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Fast real-time feedback with low latency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Requires powerful edge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 ≈ 92%, Latency ≈ 80 </a:t>
                      </a:r>
                      <a:r>
                        <a:rPr lang="en-US" sz="1200" dirty="0" err="1"/>
                        <a:t>ms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78797"/>
                  </a:ext>
                </a:extLst>
              </a:tr>
              <a:tr h="853700">
                <a:tc>
                  <a:txBody>
                    <a:bodyPr/>
                    <a:lstStyle/>
                    <a:p>
                      <a:r>
                        <a:rPr lang="en-IN" sz="1200" b="1" dirty="0"/>
                        <a:t>Sharma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Computer Vision Based Yoga Pose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MediaPipe</a:t>
                      </a:r>
                      <a:r>
                        <a:rPr lang="en-IN" sz="1200" dirty="0"/>
                        <a:t>, OpenCV, Pose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Accurate body landmark detection and angle calculation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Performance affected by camera placement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Accuracy ≈ 90%, Precision ≈ 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009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29496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35171" y="403132"/>
            <a:ext cx="7734300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                 GAP ANALYSIS &amp; PROBLEM STATEMENT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5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186" y="205911"/>
            <a:ext cx="1047993" cy="103187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C59B25-FFBE-226A-A2E7-BFA339688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10152"/>
              </p:ext>
            </p:extLst>
          </p:nvPr>
        </p:nvGraphicFramePr>
        <p:xfrm>
          <a:off x="491491" y="1222517"/>
          <a:ext cx="7885594" cy="4862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4099">
                  <a:extLst>
                    <a:ext uri="{9D8B030D-6E8A-4147-A177-3AD203B41FA5}">
                      <a16:colId xmlns:a16="http://schemas.microsoft.com/office/drawing/2014/main" val="2029920648"/>
                    </a:ext>
                  </a:extLst>
                </a:gridCol>
                <a:gridCol w="3166653">
                  <a:extLst>
                    <a:ext uri="{9D8B030D-6E8A-4147-A177-3AD203B41FA5}">
                      <a16:colId xmlns:a16="http://schemas.microsoft.com/office/drawing/2014/main" val="2767864383"/>
                    </a:ext>
                  </a:extLst>
                </a:gridCol>
                <a:gridCol w="2704842">
                  <a:extLst>
                    <a:ext uri="{9D8B030D-6E8A-4147-A177-3AD203B41FA5}">
                      <a16:colId xmlns:a16="http://schemas.microsoft.com/office/drawing/2014/main" val="2414483487"/>
                    </a:ext>
                  </a:extLst>
                </a:gridCol>
              </a:tblGrid>
              <a:tr h="324162">
                <a:tc>
                  <a:txBody>
                    <a:bodyPr/>
                    <a:lstStyle/>
                    <a:p>
                      <a:r>
                        <a:rPr lang="en-IN" sz="1400" dirty="0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84096"/>
                  </a:ext>
                </a:extLst>
              </a:tr>
              <a:tr h="810404">
                <a:tc>
                  <a:txBody>
                    <a:bodyPr/>
                    <a:lstStyle/>
                    <a:p>
                      <a:r>
                        <a:rPr lang="en-US" sz="1200" dirty="0"/>
                        <a:t>Traditional yoga practice without supervision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 cannot identify whether posture is correct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Automated Smart Yoga Mat system for home practice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121"/>
                  </a:ext>
                </a:extLst>
              </a:tr>
              <a:tr h="810404">
                <a:tc>
                  <a:txBody>
                    <a:bodyPr/>
                    <a:lstStyle/>
                    <a:p>
                      <a:r>
                        <a:rPr lang="en-IN" sz="1200" dirty="0"/>
                        <a:t>Home yoga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Users may perform poses incorrectly without feedback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Real-time posture monitoring and correction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49069"/>
                  </a:ext>
                </a:extLst>
              </a:tr>
              <a:tr h="810404">
                <a:tc>
                  <a:txBody>
                    <a:bodyPr/>
                    <a:lstStyle/>
                    <a:p>
                      <a:r>
                        <a:rPr lang="en-IN" sz="1200" dirty="0"/>
                        <a:t>Camera-based posture monitoring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 affected by lighting and camera placement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Pose detection using </a:t>
                      </a:r>
                      <a:r>
                        <a:rPr lang="en-US" sz="1200" dirty="0" err="1"/>
                        <a:t>MediaPipe</a:t>
                      </a:r>
                      <a:r>
                        <a:rPr lang="en-US" sz="1200" dirty="0"/>
                        <a:t> body landmarks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637124"/>
                  </a:ext>
                </a:extLst>
              </a:tr>
              <a:tr h="810404">
                <a:tc>
                  <a:txBody>
                    <a:bodyPr/>
                    <a:lstStyle/>
                    <a:p>
                      <a:r>
                        <a:rPr lang="en-IN" sz="1200" dirty="0"/>
                        <a:t>Basic fitness tracking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Track activity but cannot analyze yoga poses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Joint angle analysis to identify correct posture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23692"/>
                  </a:ext>
                </a:extLst>
              </a:tr>
              <a:tr h="1296647">
                <a:tc>
                  <a:txBody>
                    <a:bodyPr/>
                    <a:lstStyle/>
                    <a:p>
                      <a:r>
                        <a:rPr lang="en-IN" sz="1200" dirty="0"/>
                        <a:t>Existing posture monitoring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 not provide immediate posture correction feedback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System provides real-time feedback through screen alerts and voice guidance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077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2B73-E2D7-7B59-6B34-EAFEB20A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5359A5-04A4-748B-829F-7217B66E3CD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403132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30F645F-12EB-A015-BA23-C076F16D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171" y="403132"/>
            <a:ext cx="7734300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r>
              <a:rPr lang="en-IN" altLang="en-US" sz="2200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600ECFA-5D00-7BEB-59B9-F538B510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6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14CA27E-4676-C2FD-C3A3-B6846F756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186" y="205911"/>
            <a:ext cx="1047993" cy="103187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9FC70083-1083-300A-52B7-985F119C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28D3C-75BD-1E86-1558-AEEBB15FEE84}"/>
              </a:ext>
            </a:extLst>
          </p:cNvPr>
          <p:cNvSpPr txBox="1"/>
          <p:nvPr/>
        </p:nvSpPr>
        <p:spPr>
          <a:xfrm>
            <a:off x="573023" y="2040142"/>
            <a:ext cx="81808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Many people practice yoga at home without proper guidance. As a result, they may perform poses incorrectly, which can reduce exercise effectiveness or cause physical strain.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Therefore, a </a:t>
            </a:r>
            <a:r>
              <a:rPr lang="en-US" b="1" dirty="0"/>
              <a:t>Smart Yoga Mat system</a:t>
            </a:r>
            <a:r>
              <a:rPr lang="en-US" dirty="0"/>
              <a:t> is needed to monitor body posture and provide real-time feedback to help users maintain correct alignment during yoga practice.</a:t>
            </a:r>
          </a:p>
        </p:txBody>
      </p:sp>
    </p:spTree>
    <p:extLst>
      <p:ext uri="{BB962C8B-B14F-4D97-AF65-F5344CB8AC3E}">
        <p14:creationId xmlns:p14="http://schemas.microsoft.com/office/powerpoint/2010/main" val="207430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" y="48768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291620"/>
            <a:ext cx="7734300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                 OBJECTIVES AND METHODOLOGY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7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3894C-2473-7B21-27A4-7061DD68920D}"/>
              </a:ext>
            </a:extLst>
          </p:cNvPr>
          <p:cNvSpPr txBox="1"/>
          <p:nvPr/>
        </p:nvSpPr>
        <p:spPr>
          <a:xfrm>
            <a:off x="374074" y="1323833"/>
            <a:ext cx="771904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/>
              <a:t>Objectives: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1964" y="217062"/>
            <a:ext cx="1004936" cy="10095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Karad,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F7704-5D5E-542A-368C-E01A1D590C58}"/>
              </a:ext>
            </a:extLst>
          </p:cNvPr>
          <p:cNvSpPr txBox="1"/>
          <p:nvPr/>
        </p:nvSpPr>
        <p:spPr>
          <a:xfrm>
            <a:off x="374074" y="2369326"/>
            <a:ext cx="84041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design a Smart Yoga Mat using IoT with a </a:t>
            </a:r>
            <a:r>
              <a:rPr lang="en-US" b="1" dirty="0"/>
              <a:t>laptop for real-time posture analysis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monitor </a:t>
            </a:r>
            <a:r>
              <a:rPr lang="en-US" b="1" dirty="0"/>
              <a:t>yoga session duration and pose accuracy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 To provide </a:t>
            </a:r>
            <a:r>
              <a:rPr lang="en-US" b="1" dirty="0"/>
              <a:t>real-time feedback and performance tracking through the laptop application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 To improve </a:t>
            </a:r>
            <a:r>
              <a:rPr lang="en-US" b="1" dirty="0"/>
              <a:t>yoga practice and overall health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1DF3-CB4B-394E-365A-4EB7891C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6DE0F2-8ADE-BA1F-46D3-F42F4CFF6C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787" y="621792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984428B-6B94-1369-C6C4-064D60727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20"/>
            <a:ext cx="7734300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METHODOLOGY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72BA9A3-A3AE-CC0F-110E-6E8CB5A7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8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80F57-2056-4F96-6AD2-042C4D9A9937}"/>
              </a:ext>
            </a:extLst>
          </p:cNvPr>
          <p:cNvSpPr txBox="1"/>
          <p:nvPr/>
        </p:nvSpPr>
        <p:spPr>
          <a:xfrm>
            <a:off x="374074" y="1323833"/>
            <a:ext cx="771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A7F29B0-D5E5-32A5-3EA7-2B1906A0F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1964" y="217062"/>
            <a:ext cx="1004936" cy="100957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2B96A192-EE3A-3590-E47D-86D5E4CD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Karad, 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C3C38-277D-001B-363F-3D5B6593FB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191" y="1147060"/>
            <a:ext cx="7337218" cy="41931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121F7-A1BA-C798-51E7-BAEC1B7D982A}"/>
              </a:ext>
            </a:extLst>
          </p:cNvPr>
          <p:cNvSpPr txBox="1"/>
          <p:nvPr/>
        </p:nvSpPr>
        <p:spPr>
          <a:xfrm>
            <a:off x="1877961" y="5732206"/>
            <a:ext cx="5309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Fig. 1: System Architecture of Smart Yoga Mat Using IoT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934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69392"/>
            <a:ext cx="9143365" cy="6412992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183607"/>
            <a:ext cx="7734300" cy="706409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          RESULTS &amp; DISCUSSIONS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9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917" y="183607"/>
            <a:ext cx="998532" cy="99842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ICETIS-2026, DACOE, Karad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66D5CEB-A451-A519-6509-DAED97CA64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5487" y="1230003"/>
            <a:ext cx="83065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detects full body yoga posture using webcam input.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pose estimation identifies body landmarks for posture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Joint angles are calculated to determine whether the pose is correct or incorrect.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incorrect posture is detected, the system provides screen alerts and voice feedback.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results show that the Smart Yoga Mat helps users practice yoga correctly at home.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8880-5655-239B-268B-E0ECAECB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84FC20-FB22-078B-3E82-0DD4EAF35F4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9728"/>
            <a:ext cx="9143365" cy="6412992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8902BE-D450-2BFC-3C63-0A9C83602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3607"/>
            <a:ext cx="7734300" cy="706409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          RESULTS &amp; DISCUSSIONS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C04EF5D-EAD4-02C7-E8B2-A4088DC7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10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30B3E73-BDB5-4F18-5848-5892C543C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1917" y="183607"/>
            <a:ext cx="998532" cy="99842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1" name="Footer Placeholder 16">
            <a:extLst>
              <a:ext uri="{FF2B5EF4-FFF2-40B4-BE49-F238E27FC236}">
                <a16:creationId xmlns:a16="http://schemas.microsoft.com/office/drawing/2014/main" id="{71B4A160-4241-87ED-834C-C62A2EAA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ICETIS-2026, DACOE, Karad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43B3D-DFEB-FB6E-F722-737BE2088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83" y="1333117"/>
            <a:ext cx="7609655" cy="3602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01C465-052F-C8AA-BD3B-CAE3C7811858}"/>
              </a:ext>
            </a:extLst>
          </p:cNvPr>
          <p:cNvSpPr txBox="1"/>
          <p:nvPr/>
        </p:nvSpPr>
        <p:spPr>
          <a:xfrm>
            <a:off x="2025445" y="5506065"/>
            <a:ext cx="4159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b="1" dirty="0"/>
              <a:t>Fig. 2: Smart Yoga Mat System Output Interface</a:t>
            </a:r>
            <a:endParaRPr lang="sv-SE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15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85320"/>
            <a:ext cx="9143365" cy="7483528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12870" y="261031"/>
            <a:ext cx="7734300" cy="545884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 CONCLUSIONS &amp; FUTURE SCOPE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11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6036" y="261666"/>
            <a:ext cx="1059808" cy="93151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11" name="Footer Placeholder 16"/>
          <p:cNvSpPr txBox="1">
            <a:spLocks/>
          </p:cNvSpPr>
          <p:nvPr/>
        </p:nvSpPr>
        <p:spPr>
          <a:xfrm>
            <a:off x="116821" y="6492875"/>
            <a:ext cx="8651875" cy="365125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/>
          <a:lstStyle/>
          <a:p>
            <a:pPr lvl="0" algn="ctr">
              <a:defRPr/>
            </a:pP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ICETIS-2026, 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DACOE, Karad, </a:t>
            </a:r>
            <a:endParaRPr kumimoji="0" lang="en-I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02FD3-B70F-4F04-EB73-23490E053C06}"/>
              </a:ext>
            </a:extLst>
          </p:cNvPr>
          <p:cNvSpPr txBox="1"/>
          <p:nvPr/>
        </p:nvSpPr>
        <p:spPr>
          <a:xfrm>
            <a:off x="312870" y="1193179"/>
            <a:ext cx="9062778" cy="5897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Conclusion: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Smart Yoga Mat Using IoT</a:t>
            </a:r>
            <a:r>
              <a:rPr lang="en-US" dirty="0"/>
              <a:t> helps users practice yoga with better posture accuracy.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monitors </a:t>
            </a:r>
            <a:r>
              <a:rPr lang="en-US" b="1" dirty="0"/>
              <a:t>body alignment, balance, and session duration</a:t>
            </a:r>
            <a:r>
              <a:rPr lang="en-US" dirty="0"/>
              <a:t> using sensors and software.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provides </a:t>
            </a:r>
            <a:r>
              <a:rPr lang="en-US" b="1" dirty="0"/>
              <a:t>real-time feedback through a laptop application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improves </a:t>
            </a:r>
            <a:r>
              <a:rPr lang="en-US" b="1" dirty="0"/>
              <a:t>safety, effectiveness, and consistency in home-based yoga practice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Future Scope: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of </a:t>
            </a:r>
            <a:r>
              <a:rPr lang="en-US" b="1" dirty="0"/>
              <a:t>Artificial Intelligence for personalized yoga training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a </a:t>
            </a:r>
            <a:r>
              <a:rPr lang="en-US" b="1" dirty="0"/>
              <a:t>mobile application for easier access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for </a:t>
            </a:r>
            <a:r>
              <a:rPr lang="en-US" b="1" dirty="0"/>
              <a:t>more yoga poses and exercise types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Expansion for </a:t>
            </a:r>
            <a:r>
              <a:rPr lang="en-US" b="1" dirty="0"/>
              <a:t>physiotherapy and rehabilitation exercises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" y="-9832"/>
            <a:ext cx="9143365" cy="6857365"/>
          </a:xfrm>
          <a:prstGeom prst="rect">
            <a:avLst/>
          </a:prstGeom>
          <a:solidFill>
            <a:srgbClr val="7030A0">
              <a:alpha val="23000"/>
            </a:srgbClr>
          </a:solidFill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3659" y="391980"/>
            <a:ext cx="7734300" cy="426085"/>
          </a:xfrm>
          <a:custGeom>
            <a:avLst/>
            <a:gdLst>
              <a:gd name="connsiteX0" fmla="*/ 0 w 11513"/>
              <a:gd name="connsiteY0" fmla="*/ 0 h 671"/>
              <a:gd name="connsiteX1" fmla="*/ 11207 w 11513"/>
              <a:gd name="connsiteY1" fmla="*/ 29 h 671"/>
              <a:gd name="connsiteX2" fmla="*/ 11513 w 11513"/>
              <a:gd name="connsiteY2" fmla="*/ 662 h 671"/>
              <a:gd name="connsiteX3" fmla="*/ 0 w 11513"/>
              <a:gd name="connsiteY3" fmla="*/ 671 h 671"/>
              <a:gd name="connsiteX4" fmla="*/ 0 w 11513"/>
              <a:gd name="connsiteY4" fmla="*/ 0 h 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3" h="671">
                <a:moveTo>
                  <a:pt x="0" y="0"/>
                </a:moveTo>
                <a:lnTo>
                  <a:pt x="11207" y="29"/>
                </a:lnTo>
                <a:lnTo>
                  <a:pt x="11513" y="662"/>
                </a:lnTo>
                <a:lnTo>
                  <a:pt x="0" y="671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22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51875" y="6493510"/>
            <a:ext cx="491490" cy="365125"/>
          </a:xfrm>
          <a:solidFill>
            <a:srgbClr val="7030A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u="none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fld id="{9A0DB2DC-4C9A-4742-B13C-FB6460FD3503}" type="slidenum">
              <a:rPr lang="en-IN" altLang="en-US" sz="2400">
                <a:solidFill>
                  <a:schemeClr val="bg1"/>
                </a:solidFill>
                <a:sym typeface="+mn-ea"/>
              </a:rPr>
              <a:pPr lvl="0" algn="ctr">
                <a:buClrTx/>
                <a:buSzTx/>
                <a:buFontTx/>
              </a:pPr>
              <a:t>12</a:t>
            </a:fld>
            <a:endParaRPr lang="en-I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635" y="6493510"/>
            <a:ext cx="8651875" cy="365125"/>
          </a:xfrm>
          <a:solidFill>
            <a:srgbClr val="7030A0"/>
          </a:solidFill>
        </p:spPr>
        <p:txBody>
          <a:bodyPr/>
          <a:lstStyle/>
          <a:p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 ICETIS-2026,</a:t>
            </a:r>
            <a:r>
              <a:rPr lang="en-IN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DACOE, Karad</a:t>
            </a:r>
            <a:endParaRPr lang="en-IN" alt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1163782"/>
            <a:ext cx="92016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>
              <a:latin typeface="Arial" pitchFamily="34" charset="0"/>
              <a:ea typeface="Times New Roman" pitchFamily="18" charset="0"/>
              <a:cs typeface="Aptos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ptos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228" y="217062"/>
            <a:ext cx="1060582" cy="97611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FBED85-813B-7DF7-E139-9BA991627B84}"/>
              </a:ext>
            </a:extLst>
          </p:cNvPr>
          <p:cNvSpPr txBox="1"/>
          <p:nvPr/>
        </p:nvSpPr>
        <p:spPr>
          <a:xfrm>
            <a:off x="670559" y="1190857"/>
            <a:ext cx="79813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[1] Long, J., &amp; Jo, K. (2020) : Development of Yoga Posture Coaching System using Transfer Learning Approach. IEEE Access, 8, 195–204.</a:t>
            </a:r>
          </a:p>
          <a:p>
            <a:endParaRPr lang="en-IN" dirty="0"/>
          </a:p>
          <a:p>
            <a:r>
              <a:rPr lang="en-IN" dirty="0"/>
              <a:t>[2] Sun, W. (2021) : </a:t>
            </a:r>
            <a:r>
              <a:rPr lang="en-IN" dirty="0" err="1"/>
              <a:t>RFitness</a:t>
            </a:r>
            <a:r>
              <a:rPr lang="en-IN" dirty="0"/>
              <a:t>: Enabling Smart Yoga Mat for Fitness Posture Detection with Commodity Passive RFIDs. Sensors Journal, 21(4), 123–132.</a:t>
            </a:r>
          </a:p>
          <a:p>
            <a:endParaRPr lang="en-IN" dirty="0"/>
          </a:p>
          <a:p>
            <a:r>
              <a:rPr lang="en-IN" dirty="0"/>
              <a:t>[3] Gadhvi, R., Desai, P., &amp; Siddharth (2023) : </a:t>
            </a:r>
            <a:r>
              <a:rPr lang="en-IN" dirty="0" err="1"/>
              <a:t>PosePilot</a:t>
            </a:r>
            <a:r>
              <a:rPr lang="en-IN" dirty="0"/>
              <a:t>: An Edge-AI Solution for Posture Correction in Physical Exercises. </a:t>
            </a:r>
            <a:r>
              <a:rPr lang="en-IN" dirty="0" err="1"/>
              <a:t>arXiv</a:t>
            </a:r>
            <a:r>
              <a:rPr lang="en-IN" dirty="0"/>
              <a:t> Preprint, 1–10.</a:t>
            </a:r>
          </a:p>
          <a:p>
            <a:endParaRPr lang="en-IN" dirty="0"/>
          </a:p>
          <a:p>
            <a:r>
              <a:rPr lang="en-IN" dirty="0"/>
              <a:t>[4] Sharma, A., Sharma, P., </a:t>
            </a:r>
            <a:r>
              <a:rPr lang="en-IN" dirty="0" err="1"/>
              <a:t>Pincha</a:t>
            </a:r>
            <a:r>
              <a:rPr lang="en-IN" dirty="0"/>
              <a:t>, D., &amp; Jain, P. (2022) : Computer Vision-Based Yoga Pose Recognition using CNN and </a:t>
            </a:r>
            <a:r>
              <a:rPr lang="en-IN" dirty="0" err="1"/>
              <a:t>Mediapipe</a:t>
            </a:r>
            <a:r>
              <a:rPr lang="en-IN" dirty="0"/>
              <a:t>. International Journal of Computer Vision Applications, 15(2), 45–55.</a:t>
            </a:r>
          </a:p>
          <a:p>
            <a:endParaRPr lang="en-IN" dirty="0"/>
          </a:p>
          <a:p>
            <a:r>
              <a:rPr lang="en-IN" dirty="0"/>
              <a:t>[5] Anusha, M., Dubey, S., Raju, P.S., &amp; Pasha, I.A. (2021) : Real-Time Yoga Activity with Assistance of Embedded-Based Smart Yoga Mat. International Journal of Embedded Systems, 12(3), 89–97.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1081</Words>
  <Application>Microsoft Office PowerPoint</Application>
  <PresentationFormat>On-screen Show (4:3)</PresentationFormat>
  <Paragraphs>187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         CONTENT OF THE PRESENTATION</vt:lpstr>
      <vt:lpstr>           INTRODUCTION TO TOPIC</vt:lpstr>
      <vt:lpstr>REVIEW OF LITERATURE</vt:lpstr>
      <vt:lpstr>                  GAP ANALYSIS &amp; PROBLEM STATEMENT</vt:lpstr>
      <vt:lpstr>PROBLEM STATEMENT</vt:lpstr>
      <vt:lpstr>                  OBJECTIVES AND METHODOLOGY</vt:lpstr>
      <vt:lpstr> METHODOLOGY</vt:lpstr>
      <vt:lpstr>           RESULTS &amp; DISCUSSIONS</vt:lpstr>
      <vt:lpstr>           RESULTS &amp; DISCUSSIONS</vt:lpstr>
      <vt:lpstr> CONCLUSIONS &amp; 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AMGOI</dc:creator>
  <cp:lastModifiedBy>Shreya Patil</cp:lastModifiedBy>
  <cp:revision>113</cp:revision>
  <dcterms:created xsi:type="dcterms:W3CDTF">2025-07-23T00:59:00Z</dcterms:created>
  <dcterms:modified xsi:type="dcterms:W3CDTF">2026-03-12T16:39:24Z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1033-12.2.0.22549</vt:lpwstr>
  </property>
</Properties>
</file>